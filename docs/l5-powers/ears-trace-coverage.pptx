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74626"/>
  </p:normalViewPr>
  <p:slideViewPr>
    <p:cSldViewPr snapToGrid="0" snapToObjects="1">
      <p:cViewPr varScale="1">
        <p:scale>
          <a:sx n="94" d="100"/>
          <a:sy n="94" d="100"/>
        </p:scale>
        <p:origin x="14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FD1B0-74F3-D141-B210-936319A276C7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12DD4-0740-C747-9E66-F79886FCF7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9149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F5E6B8"/>
                </a:solidFill>
                <a:latin typeface="Palatino"/>
              </a:rPr>
              <a:t>タイトル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F5E6B8"/>
                </a:solidFill>
                <a:latin typeface="Palatino"/>
              </a:rPr>
              <a:t>処理の流れ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F5E6B8"/>
                </a:solidFill>
                <a:latin typeface="Palatino"/>
              </a:rPr>
              <a:t>ドッグフーディング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F5E6B8"/>
                </a:solidFill>
                <a:latin typeface="Garamond"/>
              </a:rPr>
              <a:t>PBT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2130425"/>
            <a:ext cx="9889435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886200"/>
            <a:ext cx="9760226" cy="77525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84578"/>
            <a:ext cx="10992678" cy="798788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24130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4800">
                <a:solidFill>
                  <a:srgbClr val="F5E6B8"/>
                </a:solidFill>
                <a:latin typeface="Garamond"/>
              </a:rPr>
              <a:t>ears-trace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3302000"/>
            <a:ext cx="10160000" cy="571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800">
                <a:solidFill>
                  <a:srgbClr val="D4AF37"/>
                </a:solidFill>
                <a:latin typeface="Garamond"/>
              </a:rPr>
              <a:t>EARS </a:t>
            </a:r>
            <a:r>
              <a:rPr lang="ja-JP" sz="2800">
                <a:solidFill>
                  <a:srgbClr val="D4AF37"/>
                </a:solidFill>
                <a:latin typeface="Palatino"/>
              </a:rPr>
              <a:t>要件とテストの穴を、自動で可視化する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4064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lang="ja-JP" sz="1600">
                <a:solidFill>
                  <a:srgbClr val="9A9AAA"/>
                </a:solidFill>
                <a:latin typeface="Palatino"/>
              </a:rPr>
              <a:t>仕様駆動開発の「次の一手」を自動化する</a:t>
            </a:r>
            <a:r>
              <a:rPr sz="1600">
                <a:solidFill>
                  <a:srgbClr val="9A9AAA"/>
                </a:solidFill>
                <a:latin typeface="Garamond"/>
              </a:rPr>
              <a:t> Python CLI </a:t>
            </a:r>
            <a:r>
              <a:rPr lang="ja-JP" sz="1600">
                <a:solidFill>
                  <a:srgbClr val="9A9AAA"/>
                </a:solidFill>
                <a:latin typeface="Palatino"/>
              </a:rPr>
              <a:t>ツール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lang="ja-JP" sz="3800">
                <a:solidFill>
                  <a:srgbClr val="F5E6B8"/>
                </a:solidFill>
                <a:latin typeface="Palatino"/>
              </a:rPr>
              <a:t>仕組み</a:t>
            </a:r>
            <a:r>
              <a:rPr sz="3800">
                <a:solidFill>
                  <a:srgbClr val="F5E6B8"/>
                </a:solidFill>
                <a:latin typeface="Garamond"/>
              </a:rPr>
              <a:t> : </a:t>
            </a:r>
            <a:r>
              <a:rPr lang="ja-JP" sz="3800">
                <a:solidFill>
                  <a:srgbClr val="F5E6B8"/>
                </a:solidFill>
                <a:latin typeface="Palatino"/>
              </a:rPr>
              <a:t>要件から穴を導く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651000"/>
            <a:ext cx="10160000" cy="3302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800">
                <a:solidFill>
                  <a:srgbClr val="F5E6B8"/>
                </a:solidFill>
                <a:latin typeface="Garamond"/>
              </a:rPr>
              <a:t>1. requirements.md (EARS)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をパースし、要件</a:t>
            </a:r>
            <a:r>
              <a:rPr sz="2800">
                <a:solidFill>
                  <a:srgbClr val="F5E6B8"/>
                </a:solidFill>
                <a:latin typeface="Garamond"/>
              </a:rPr>
              <a:t> ID(R-01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形式</a:t>
            </a:r>
            <a:r>
              <a:rPr sz="2800">
                <a:solidFill>
                  <a:srgbClr val="F5E6B8"/>
                </a:solidFill>
                <a:latin typeface="Garamond"/>
              </a:rPr>
              <a:t>)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を抽出</a:t>
            </a:r>
          </a:p>
          <a:p>
            <a:pPr algn="l"/>
          </a:p>
          <a:p>
            <a:pPr algn="l"/>
            <a:r>
              <a:rPr sz="2800">
                <a:solidFill>
                  <a:srgbClr val="F5E6B8"/>
                </a:solidFill>
                <a:latin typeface="Garamond"/>
              </a:rPr>
              <a:t>2. pytest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のテストから</a:t>
            </a:r>
            <a:r>
              <a:rPr sz="2800">
                <a:solidFill>
                  <a:srgbClr val="F5E6B8"/>
                </a:solidFill>
                <a:latin typeface="Garamond"/>
              </a:rPr>
              <a:t> 3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方式</a:t>
            </a:r>
            <a:r>
              <a:rPr sz="2800">
                <a:solidFill>
                  <a:srgbClr val="F5E6B8"/>
                </a:solidFill>
                <a:latin typeface="Garamond"/>
              </a:rPr>
              <a:t> (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マーカー</a:t>
            </a:r>
            <a:r>
              <a:rPr sz="2800">
                <a:solidFill>
                  <a:srgbClr val="F5E6B8"/>
                </a:solidFill>
                <a:latin typeface="Garamond"/>
              </a:rPr>
              <a:t> /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命名</a:t>
            </a:r>
            <a:r>
              <a:rPr sz="2800">
                <a:solidFill>
                  <a:srgbClr val="F5E6B8"/>
                </a:solidFill>
                <a:latin typeface="Garamond"/>
              </a:rPr>
              <a:t> /docstring)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で要件</a:t>
            </a:r>
            <a:r>
              <a:rPr sz="2800">
                <a:solidFill>
                  <a:srgbClr val="F5E6B8"/>
                </a:solidFill>
                <a:latin typeface="Garamond"/>
              </a:rPr>
              <a:t> ID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を照合</a:t>
            </a:r>
          </a:p>
          <a:p>
            <a:pPr algn="l"/>
          </a:p>
          <a:p>
            <a:pPr algn="l"/>
            <a:r>
              <a:rPr sz="2800">
                <a:solidFill>
                  <a:srgbClr val="F5E6B8"/>
                </a:solidFill>
                <a:latin typeface="Garamond"/>
              </a:rPr>
              <a:t>3.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全要件を</a:t>
            </a:r>
            <a:r>
              <a:rPr sz="2800">
                <a:solidFill>
                  <a:srgbClr val="F5E6B8"/>
                </a:solidFill>
                <a:latin typeface="Garamond"/>
              </a:rPr>
              <a:t> covered / uncovered(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穴</a:t>
            </a:r>
            <a:r>
              <a:rPr sz="2800">
                <a:solidFill>
                  <a:srgbClr val="F5E6B8"/>
                </a:solidFill>
                <a:latin typeface="Garamond"/>
              </a:rPr>
              <a:t>)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に排他かつ網羅に分割</a:t>
            </a:r>
          </a:p>
          <a:p>
            <a:pPr algn="l"/>
          </a:p>
          <a:p>
            <a:pPr algn="l"/>
            <a:r>
              <a:rPr sz="2800">
                <a:solidFill>
                  <a:srgbClr val="F5E6B8"/>
                </a:solidFill>
                <a:latin typeface="Garamond"/>
              </a:rPr>
              <a:t>4. HTML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レポート</a:t>
            </a:r>
            <a:r>
              <a:rPr sz="2800">
                <a:solidFill>
                  <a:srgbClr val="F5E6B8"/>
                </a:solidFill>
                <a:latin typeface="Garamond"/>
              </a:rPr>
              <a:t> / CI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向け</a:t>
            </a:r>
            <a:r>
              <a:rPr sz="2800">
                <a:solidFill>
                  <a:srgbClr val="F5E6B8"/>
                </a:solidFill>
                <a:latin typeface="Garamond"/>
              </a:rPr>
              <a:t> check /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スタブ生成</a:t>
            </a:r>
            <a:r>
              <a:rPr sz="2800">
                <a:solidFill>
                  <a:srgbClr val="F5E6B8"/>
                </a:solidFill>
                <a:latin typeface="Garamond"/>
              </a:rPr>
              <a:t>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で出力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lang="ja-JP" sz="3800">
                <a:solidFill>
                  <a:srgbClr val="F5E6B8"/>
                </a:solidFill>
                <a:latin typeface="Palatino"/>
              </a:rPr>
              <a:t>自己トレース</a:t>
            </a:r>
            <a:r>
              <a:rPr sz="3800">
                <a:solidFill>
                  <a:srgbClr val="F5E6B8"/>
                </a:solidFill>
                <a:latin typeface="Garamond"/>
              </a:rPr>
              <a:t> : </a:t>
            </a:r>
            <a:r>
              <a:rPr lang="ja-JP" sz="3800">
                <a:solidFill>
                  <a:srgbClr val="F5E6B8"/>
                </a:solidFill>
                <a:latin typeface="Palatino"/>
              </a:rPr>
              <a:t>ツールが自分を検査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778000"/>
            <a:ext cx="10160000" cy="2667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800">
                <a:solidFill>
                  <a:srgbClr val="F5E6B8"/>
                </a:solidFill>
                <a:latin typeface="Garamond"/>
              </a:rPr>
              <a:t>ears-trace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は自分自身の</a:t>
            </a:r>
            <a:r>
              <a:rPr sz="2800">
                <a:solidFill>
                  <a:srgbClr val="F5E6B8"/>
                </a:solidFill>
                <a:latin typeface="Garamond"/>
              </a:rPr>
              <a:t> requirements.md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をトレースできる。</a:t>
            </a:r>
          </a:p>
          <a:p>
            <a:pPr algn="l"/>
          </a:p>
          <a:p>
            <a:pPr algn="l"/>
            <a:r>
              <a:rPr sz="2800">
                <a:solidFill>
                  <a:srgbClr val="F5E6B8"/>
                </a:solidFill>
                <a:latin typeface="Garamond"/>
              </a:rPr>
              <a:t>50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件の</a:t>
            </a:r>
            <a:r>
              <a:rPr sz="2800">
                <a:solidFill>
                  <a:srgbClr val="F5E6B8"/>
                </a:solidFill>
                <a:latin typeface="Garamond"/>
              </a:rPr>
              <a:t> EARS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要件に対し、テストの穴を機械的に特定。</a:t>
            </a:r>
          </a:p>
          <a:p>
            <a:pPr algn="l"/>
          </a:p>
          <a:p>
            <a:pPr algn="l"/>
            <a:r>
              <a:rPr lang="ja-JP" sz="2800">
                <a:solidFill>
                  <a:srgbClr val="F5E6B8"/>
                </a:solidFill>
                <a:latin typeface="Palatino"/>
              </a:rPr>
              <a:t>説明文の誤検出</a:t>
            </a:r>
            <a:r>
              <a:rPr sz="2800">
                <a:solidFill>
                  <a:srgbClr val="F5E6B8"/>
                </a:solidFill>
                <a:latin typeface="Garamond"/>
              </a:rPr>
              <a:t> (KI-01)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もドッグフーディングで浮き彫りにした。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lang="ja-JP" sz="3800">
                <a:solidFill>
                  <a:srgbClr val="F5E6B8"/>
                </a:solidFill>
                <a:latin typeface="Palatino"/>
              </a:rPr>
              <a:t>品質</a:t>
            </a:r>
            <a:r>
              <a:rPr sz="3800">
                <a:solidFill>
                  <a:srgbClr val="F5E6B8"/>
                </a:solidFill>
                <a:latin typeface="Garamond"/>
              </a:rPr>
              <a:t> : </a:t>
            </a:r>
            <a:r>
              <a:rPr lang="ja-JP" sz="3800">
                <a:solidFill>
                  <a:srgbClr val="F5E6B8"/>
                </a:solidFill>
                <a:latin typeface="Palatino"/>
              </a:rPr>
              <a:t>不変条件で正しさを担保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778000"/>
            <a:ext cx="10160000" cy="2667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800">
                <a:solidFill>
                  <a:srgbClr val="F5E6B8"/>
                </a:solidFill>
                <a:latin typeface="Garamond"/>
              </a:rPr>
              <a:t>Property-based testing (Hypothesis)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で要件の不変条件を検証。</a:t>
            </a:r>
          </a:p>
          <a:p>
            <a:pPr algn="l"/>
          </a:p>
          <a:p>
            <a:pPr algn="l"/>
            <a:r>
              <a:rPr lang="ja-JP" sz="2800">
                <a:solidFill>
                  <a:srgbClr val="F5E6B8"/>
                </a:solidFill>
                <a:latin typeface="Palatino"/>
              </a:rPr>
              <a:t>集合分割</a:t>
            </a:r>
            <a:r>
              <a:rPr sz="2800">
                <a:solidFill>
                  <a:srgbClr val="F5E6B8"/>
                </a:solidFill>
                <a:latin typeface="Garamond"/>
              </a:rPr>
              <a:t> /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単調性</a:t>
            </a:r>
            <a:r>
              <a:rPr sz="2800">
                <a:solidFill>
                  <a:srgbClr val="F5E6B8"/>
                </a:solidFill>
                <a:latin typeface="Garamond"/>
              </a:rPr>
              <a:t> /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順序不変性</a:t>
            </a:r>
            <a:r>
              <a:rPr sz="2800">
                <a:solidFill>
                  <a:srgbClr val="F5E6B8"/>
                </a:solidFill>
                <a:latin typeface="Garamond"/>
              </a:rPr>
              <a:t> /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決定論性</a:t>
            </a:r>
            <a:r>
              <a:rPr sz="2800">
                <a:solidFill>
                  <a:srgbClr val="F5E6B8"/>
                </a:solidFill>
                <a:latin typeface="Garamond"/>
              </a:rPr>
              <a:t> /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パーサ頑健性。</a:t>
            </a:r>
          </a:p>
          <a:p>
            <a:pPr algn="l"/>
          </a:p>
          <a:p>
            <a:pPr algn="l"/>
            <a:r>
              <a:rPr sz="2800">
                <a:solidFill>
                  <a:srgbClr val="F5E6B8"/>
                </a:solidFill>
                <a:latin typeface="Garamond"/>
              </a:rPr>
              <a:t>162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テスト・カバレッジ</a:t>
            </a:r>
            <a:r>
              <a:rPr sz="2800">
                <a:solidFill>
                  <a:srgbClr val="F5E6B8"/>
                </a:solidFill>
                <a:latin typeface="Garamond"/>
              </a:rPr>
              <a:t> 99% </a:t>
            </a:r>
            <a:r>
              <a:rPr lang="ja-JP" sz="2800">
                <a:solidFill>
                  <a:srgbClr val="F5E6B8"/>
                </a:solidFill>
                <a:latin typeface="Palatino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Macintosh PowerPoint</Application>
  <PresentationFormat>ワイド画面</PresentationFormat>
  <Paragraphs>2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KATAOKA, SHOTARO</cp:lastModifiedBy>
  <cp:revision>10</cp:revision>
  <dcterms:created xsi:type="dcterms:W3CDTF">2013-01-27T09:14:16Z</dcterms:created>
  <dcterms:modified xsi:type="dcterms:W3CDTF">2026-04-21T05:52:00Z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2026-04-01T23:58:19Z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beaebefe-5a52-4e34-80b8-0094bfd161a6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